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7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56" y="-84"/>
      </p:cViewPr>
      <p:guideLst>
        <p:guide orient="horz" pos="212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9144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07375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1843088"/>
            <a:ext cx="8212138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jpeg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82060" y="4586605"/>
            <a:ext cx="4782820" cy="1143000"/>
          </a:xfrm>
        </p:spPr>
        <p:txBody>
          <a:bodyPr/>
          <a:lstStyle/>
          <a:p>
            <a:r>
              <a:rPr lang="en-US" b="1" dirty="0" smtClean="0"/>
              <a:t>Linear Searching</a:t>
            </a:r>
            <a:endParaRPr lang="en-US" b="1" dirty="0" smtClean="0"/>
          </a:p>
        </p:txBody>
      </p:sp>
      <p:pic>
        <p:nvPicPr>
          <p:cNvPr id="3" name="Picture 2" descr="downlo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530860"/>
            <a:ext cx="2140585" cy="2313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07085" y="536575"/>
            <a:ext cx="7879715" cy="582930"/>
          </a:xfrm>
        </p:spPr>
        <p:txBody>
          <a:bodyPr/>
          <a:lstStyle/>
          <a:p>
            <a:r>
              <a:rPr lang="en-US" b="1"/>
              <a:t>Problem: Search</a:t>
            </a:r>
            <a:endParaRPr lang="en-US" b="1"/>
          </a:p>
        </p:txBody>
      </p:sp>
      <p:sp>
        <p:nvSpPr>
          <p:cNvPr id="3075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807085" y="1373505"/>
            <a:ext cx="7254875" cy="4714240"/>
          </a:xfrm>
        </p:spPr>
        <p:txBody>
          <a:bodyPr/>
          <a:lstStyle/>
          <a:p>
            <a:pPr algn="just"/>
            <a:r>
              <a:rPr lang="en-US" sz="2400"/>
              <a:t>We are given a list of records.  </a:t>
            </a:r>
            <a:endParaRPr lang="en-US" sz="2400"/>
          </a:p>
          <a:p>
            <a:pPr algn="just"/>
            <a:r>
              <a:rPr lang="en-US" sz="2400"/>
              <a:t>Each record has an associated key.</a:t>
            </a:r>
            <a:endParaRPr lang="en-US" sz="2400"/>
          </a:p>
          <a:p>
            <a:pPr algn="just"/>
            <a:r>
              <a:rPr lang="en-US" sz="2400"/>
              <a:t>Give efficient algorithm for searching for a record containing a particular key.</a:t>
            </a:r>
            <a:endParaRPr lang="en-US" sz="2400"/>
          </a:p>
          <a:p>
            <a:pPr algn="just"/>
            <a:r>
              <a:rPr lang="en-US" sz="2400"/>
              <a:t>Efficiency is quantified in terms of average time analysis (number of comparisons) to retrieve an item.</a:t>
            </a:r>
            <a:endParaRPr lang="en-US" sz="2400"/>
          </a:p>
        </p:txBody>
      </p:sp>
      <p:pic>
        <p:nvPicPr>
          <p:cNvPr id="2" name="Content Placeholder 1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768340" y="3864610"/>
            <a:ext cx="2143125" cy="2143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70" decel="1000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770" decel="1000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5" dur="77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7" dur="77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9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70" decel="1000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770" decel="1000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4" dur="77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6" dur="77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8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70" decel="1000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770" decel="1000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3" dur="77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5" dur="77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70" decel="1000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770" decel="1000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2" dur="77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4" dur="77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7045" y="561340"/>
            <a:ext cx="2574290" cy="755650"/>
          </a:xfrm>
        </p:spPr>
        <p:txBody>
          <a:bodyPr/>
          <a:lstStyle/>
          <a:p>
            <a:r>
              <a:rPr lang="en-US" b="1"/>
              <a:t>Search</a:t>
            </a:r>
            <a:endParaRPr lang="en-US" b="1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457200" y="2354263"/>
            <a:ext cx="5930900" cy="1179512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1641475" y="2360613"/>
            <a:ext cx="0" cy="1177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2828925" y="2360613"/>
            <a:ext cx="0" cy="1177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4013200" y="2360613"/>
            <a:ext cx="1588" cy="1177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" name="Line 7"/>
          <p:cNvSpPr>
            <a:spLocks noChangeShapeType="1"/>
          </p:cNvSpPr>
          <p:nvPr/>
        </p:nvSpPr>
        <p:spPr bwMode="auto">
          <a:xfrm>
            <a:off x="5200650" y="2365375"/>
            <a:ext cx="0" cy="1166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6388100" y="2365375"/>
            <a:ext cx="0" cy="1166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615950" y="1828800"/>
            <a:ext cx="722313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>
                <a:latin typeface="Arial" panose="020B0604020202020204" pitchFamily="34" charset="0"/>
              </a:rPr>
              <a:t>[ 0 ]</a:t>
            </a:r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1839913" y="1828800"/>
            <a:ext cx="722312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b="1">
                <a:latin typeface="Arial" panose="020B0604020202020204" pitchFamily="34" charset="0"/>
              </a:rPr>
              <a:t>[ 1 ]</a:t>
            </a:r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3024188" y="1828800"/>
            <a:ext cx="722312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b="1">
                <a:latin typeface="Arial" panose="020B0604020202020204" pitchFamily="34" charset="0"/>
              </a:rPr>
              <a:t>[ 2 ]</a:t>
            </a:r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4109" name="Rectangle 13"/>
          <p:cNvSpPr>
            <a:spLocks noChangeArrowheads="1"/>
          </p:cNvSpPr>
          <p:nvPr/>
        </p:nvSpPr>
        <p:spPr bwMode="auto">
          <a:xfrm>
            <a:off x="4171950" y="1828800"/>
            <a:ext cx="720725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b="1">
                <a:latin typeface="Arial" panose="020B0604020202020204" pitchFamily="34" charset="0"/>
              </a:rPr>
              <a:t>[ 3 ]</a:t>
            </a:r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4110" name="Rectangle 14"/>
          <p:cNvSpPr>
            <a:spLocks noChangeArrowheads="1"/>
          </p:cNvSpPr>
          <p:nvPr/>
        </p:nvSpPr>
        <p:spPr bwMode="auto">
          <a:xfrm>
            <a:off x="5353050" y="1828800"/>
            <a:ext cx="7239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b="1">
                <a:latin typeface="Arial" panose="020B0604020202020204" pitchFamily="34" charset="0"/>
              </a:rPr>
              <a:t>[ 4 ]</a:t>
            </a:r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4112" name="Rectangle 16"/>
          <p:cNvSpPr>
            <a:spLocks noChangeArrowheads="1"/>
          </p:cNvSpPr>
          <p:nvPr/>
        </p:nvSpPr>
        <p:spPr bwMode="auto">
          <a:xfrm>
            <a:off x="7288213" y="2365375"/>
            <a:ext cx="1169987" cy="1168400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Rectangle 17"/>
          <p:cNvSpPr>
            <a:spLocks noChangeArrowheads="1"/>
          </p:cNvSpPr>
          <p:nvPr/>
        </p:nvSpPr>
        <p:spPr bwMode="auto">
          <a:xfrm>
            <a:off x="7315200" y="1833563"/>
            <a:ext cx="10620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>
                <a:latin typeface="Arial" panose="020B0604020202020204" pitchFamily="34" charset="0"/>
              </a:rPr>
              <a:t>[ 700 ]</a:t>
            </a:r>
            <a:endParaRPr lang="en-US" b="1">
              <a:latin typeface="Arial" panose="020B0604020202020204" pitchFamily="34" charset="0"/>
            </a:endParaRPr>
          </a:p>
        </p:txBody>
      </p:sp>
      <p:grpSp>
        <p:nvGrpSpPr>
          <p:cNvPr id="4114" name="Group 18"/>
          <p:cNvGrpSpPr/>
          <p:nvPr/>
        </p:nvGrpSpPr>
        <p:grpSpPr bwMode="auto">
          <a:xfrm>
            <a:off x="5335588" y="2563813"/>
            <a:ext cx="671512" cy="771525"/>
            <a:chOff x="2897" y="3449"/>
            <a:chExt cx="326" cy="327"/>
          </a:xfrm>
        </p:grpSpPr>
        <p:sp>
          <p:nvSpPr>
            <p:cNvPr id="4115" name="Rectangle 19"/>
            <p:cNvSpPr>
              <a:spLocks noChangeArrowheads="1"/>
            </p:cNvSpPr>
            <p:nvPr/>
          </p:nvSpPr>
          <p:spPr bwMode="auto">
            <a:xfrm>
              <a:off x="2897" y="3449"/>
              <a:ext cx="326" cy="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3813" tIns="11113" rIns="23813" bIns="11113">
              <a:spAutoFit/>
            </a:bodyPr>
            <a:lstStyle/>
            <a:p>
              <a:pPr defTabSz="57150" eaLnBrk="0" hangingPunct="0"/>
              <a:r>
                <a:rPr lang="en-US" sz="500" b="1">
                  <a:latin typeface="Arial" panose="020B0604020202020204" pitchFamily="34" charset="0"/>
                </a:rPr>
                <a:t>Number    506643548</a:t>
              </a:r>
              <a:endParaRPr lang="en-US" sz="500" b="1">
                <a:latin typeface="Arial" panose="020B0604020202020204" pitchFamily="34" charset="0"/>
              </a:endParaRPr>
            </a:p>
          </p:txBody>
        </p:sp>
        <p:pic>
          <p:nvPicPr>
            <p:cNvPr id="4116" name="Picture 20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5910" b="42465"/>
            <a:stretch>
              <a:fillRect/>
            </a:stretch>
          </p:blipFill>
          <p:spPr bwMode="auto">
            <a:xfrm>
              <a:off x="2945" y="3524"/>
              <a:ext cx="25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117" name="Group 21"/>
          <p:cNvGrpSpPr/>
          <p:nvPr/>
        </p:nvGrpSpPr>
        <p:grpSpPr bwMode="auto">
          <a:xfrm>
            <a:off x="3030538" y="2525713"/>
            <a:ext cx="730250" cy="847725"/>
            <a:chOff x="1778" y="3433"/>
            <a:chExt cx="355" cy="359"/>
          </a:xfrm>
        </p:grpSpPr>
        <p:sp>
          <p:nvSpPr>
            <p:cNvPr id="4118" name="Rectangle 22"/>
            <p:cNvSpPr>
              <a:spLocks noChangeArrowheads="1"/>
            </p:cNvSpPr>
            <p:nvPr/>
          </p:nvSpPr>
          <p:spPr bwMode="auto">
            <a:xfrm>
              <a:off x="1778" y="3433"/>
              <a:ext cx="326" cy="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3813" tIns="11113" rIns="23813" bIns="11113">
              <a:spAutoFit/>
            </a:bodyPr>
            <a:lstStyle/>
            <a:p>
              <a:pPr defTabSz="57150" eaLnBrk="0" hangingPunct="0"/>
              <a:r>
                <a:rPr lang="en-US" sz="500" b="1">
                  <a:latin typeface="Arial" panose="020B0604020202020204" pitchFamily="34" charset="0"/>
                </a:rPr>
                <a:t>Number    233667136</a:t>
              </a:r>
              <a:endParaRPr lang="en-US" sz="500" b="1">
                <a:latin typeface="Arial" panose="020B0604020202020204" pitchFamily="34" charset="0"/>
              </a:endParaRPr>
            </a:p>
          </p:txBody>
        </p:sp>
        <p:pic>
          <p:nvPicPr>
            <p:cNvPr id="4119" name="Picture 2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" y="3488"/>
              <a:ext cx="327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120" name="Group 24"/>
          <p:cNvGrpSpPr/>
          <p:nvPr/>
        </p:nvGrpSpPr>
        <p:grpSpPr bwMode="auto">
          <a:xfrm>
            <a:off x="1841500" y="2519363"/>
            <a:ext cx="727075" cy="858837"/>
            <a:chOff x="1201" y="3430"/>
            <a:chExt cx="353" cy="364"/>
          </a:xfrm>
        </p:grpSpPr>
        <p:sp>
          <p:nvSpPr>
            <p:cNvPr id="4121" name="Rectangle 25"/>
            <p:cNvSpPr>
              <a:spLocks noChangeArrowheads="1"/>
            </p:cNvSpPr>
            <p:nvPr/>
          </p:nvSpPr>
          <p:spPr bwMode="auto">
            <a:xfrm>
              <a:off x="1201" y="3430"/>
              <a:ext cx="301" cy="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3813" tIns="11113" rIns="23813" bIns="11113">
              <a:spAutoFit/>
            </a:bodyPr>
            <a:lstStyle/>
            <a:p>
              <a:pPr defTabSz="57150" eaLnBrk="0" hangingPunct="0"/>
              <a:r>
                <a:rPr lang="en-US" sz="500" b="1">
                  <a:latin typeface="Arial" panose="020B0604020202020204" pitchFamily="34" charset="0"/>
                </a:rPr>
                <a:t>Number 281942902</a:t>
              </a:r>
              <a:endParaRPr lang="en-US" sz="500" b="1">
                <a:latin typeface="Arial" panose="020B0604020202020204" pitchFamily="34" charset="0"/>
              </a:endParaRPr>
            </a:p>
          </p:txBody>
        </p:sp>
        <p:pic>
          <p:nvPicPr>
            <p:cNvPr id="4122" name="Picture 2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" y="3493"/>
              <a:ext cx="335" cy="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123" name="Group 27"/>
          <p:cNvGrpSpPr/>
          <p:nvPr/>
        </p:nvGrpSpPr>
        <p:grpSpPr bwMode="auto">
          <a:xfrm>
            <a:off x="7412038" y="2570163"/>
            <a:ext cx="942975" cy="755650"/>
            <a:chOff x="4891" y="3452"/>
            <a:chExt cx="458" cy="320"/>
          </a:xfrm>
        </p:grpSpPr>
        <p:sp>
          <p:nvSpPr>
            <p:cNvPr id="4124" name="Rectangle 28"/>
            <p:cNvSpPr>
              <a:spLocks noChangeArrowheads="1"/>
            </p:cNvSpPr>
            <p:nvPr/>
          </p:nvSpPr>
          <p:spPr bwMode="auto">
            <a:xfrm>
              <a:off x="4927" y="3452"/>
              <a:ext cx="301" cy="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3813" tIns="11113" rIns="23813" bIns="11113">
              <a:spAutoFit/>
            </a:bodyPr>
            <a:lstStyle/>
            <a:p>
              <a:pPr defTabSz="57150" eaLnBrk="0" hangingPunct="0"/>
              <a:r>
                <a:rPr lang="en-US" sz="500" b="1">
                  <a:latin typeface="Arial" panose="020B0604020202020204" pitchFamily="34" charset="0"/>
                </a:rPr>
                <a:t>Number 155778322</a:t>
              </a:r>
              <a:endParaRPr lang="en-US" sz="500" b="1">
                <a:latin typeface="Arial" panose="020B0604020202020204" pitchFamily="34" charset="0"/>
              </a:endParaRPr>
            </a:p>
          </p:txBody>
        </p:sp>
        <p:pic>
          <p:nvPicPr>
            <p:cNvPr id="4125" name="Picture 2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3265"/>
            <a:stretch>
              <a:fillRect/>
            </a:stretch>
          </p:blipFill>
          <p:spPr bwMode="auto">
            <a:xfrm>
              <a:off x="4891" y="3500"/>
              <a:ext cx="45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126" name="Group 30"/>
          <p:cNvGrpSpPr/>
          <p:nvPr/>
        </p:nvGrpSpPr>
        <p:grpSpPr bwMode="auto">
          <a:xfrm>
            <a:off x="4186238" y="2549525"/>
            <a:ext cx="749300" cy="830263"/>
            <a:chOff x="2339" y="3443"/>
            <a:chExt cx="364" cy="352"/>
          </a:xfrm>
        </p:grpSpPr>
        <p:pic>
          <p:nvPicPr>
            <p:cNvPr id="4127" name="Picture 31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312" b="42639"/>
            <a:stretch>
              <a:fillRect/>
            </a:stretch>
          </p:blipFill>
          <p:spPr bwMode="auto">
            <a:xfrm>
              <a:off x="2369" y="3495"/>
              <a:ext cx="334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128" name="Rectangle 32"/>
            <p:cNvSpPr>
              <a:spLocks noChangeArrowheads="1"/>
            </p:cNvSpPr>
            <p:nvPr/>
          </p:nvSpPr>
          <p:spPr bwMode="auto">
            <a:xfrm>
              <a:off x="2339" y="3443"/>
              <a:ext cx="301" cy="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3813" tIns="11113" rIns="23813" bIns="11113">
              <a:spAutoFit/>
            </a:bodyPr>
            <a:lstStyle/>
            <a:p>
              <a:pPr defTabSz="57150" eaLnBrk="0" hangingPunct="0"/>
              <a:r>
                <a:rPr lang="en-US" sz="500" b="1">
                  <a:latin typeface="Arial" panose="020B0604020202020204" pitchFamily="34" charset="0"/>
                </a:rPr>
                <a:t>Number 580625685</a:t>
              </a:r>
              <a:endParaRPr lang="en-US" sz="500" b="1">
                <a:latin typeface="Arial" panose="020B0604020202020204" pitchFamily="34" charset="0"/>
              </a:endParaRPr>
            </a:p>
          </p:txBody>
        </p:sp>
      </p:grpSp>
      <p:grpSp>
        <p:nvGrpSpPr>
          <p:cNvPr id="4129" name="Group 33"/>
          <p:cNvGrpSpPr/>
          <p:nvPr/>
        </p:nvGrpSpPr>
        <p:grpSpPr bwMode="auto">
          <a:xfrm>
            <a:off x="652463" y="2554288"/>
            <a:ext cx="679450" cy="819150"/>
            <a:chOff x="3495" y="3436"/>
            <a:chExt cx="330" cy="347"/>
          </a:xfrm>
        </p:grpSpPr>
        <p:pic>
          <p:nvPicPr>
            <p:cNvPr id="4130" name="Picture 34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0" y="3511"/>
              <a:ext cx="295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131" name="Rectangle 35"/>
            <p:cNvSpPr>
              <a:spLocks noChangeArrowheads="1"/>
            </p:cNvSpPr>
            <p:nvPr/>
          </p:nvSpPr>
          <p:spPr bwMode="auto">
            <a:xfrm>
              <a:off x="3495" y="3436"/>
              <a:ext cx="300" cy="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3813" tIns="11113" rIns="23813" bIns="11113">
              <a:spAutoFit/>
            </a:bodyPr>
            <a:lstStyle/>
            <a:p>
              <a:pPr defTabSz="57150" eaLnBrk="0" hangingPunct="0"/>
              <a:r>
                <a:rPr lang="en-US" sz="500" b="1">
                  <a:latin typeface="Arial" panose="020B0604020202020204" pitchFamily="34" charset="0"/>
                </a:rPr>
                <a:t>Number 701466868</a:t>
              </a:r>
              <a:endParaRPr lang="en-US" sz="500" b="1">
                <a:latin typeface="Arial" panose="020B0604020202020204" pitchFamily="34" charset="0"/>
              </a:endParaRPr>
            </a:p>
          </p:txBody>
        </p:sp>
      </p:grpSp>
      <p:sp>
        <p:nvSpPr>
          <p:cNvPr id="4132" name="Text Box 36"/>
          <p:cNvSpPr txBox="1">
            <a:spLocks noChangeArrowheads="1"/>
          </p:cNvSpPr>
          <p:nvPr/>
        </p:nvSpPr>
        <p:spPr bwMode="auto">
          <a:xfrm>
            <a:off x="6494463" y="2276475"/>
            <a:ext cx="74453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4400"/>
              <a:t>…</a:t>
            </a:r>
            <a:endParaRPr lang="en-US" sz="4400"/>
          </a:p>
        </p:txBody>
      </p:sp>
      <p:sp>
        <p:nvSpPr>
          <p:cNvPr id="4133" name="Rectangle 37"/>
          <p:cNvSpPr>
            <a:spLocks noChangeArrowheads="1"/>
          </p:cNvSpPr>
          <p:nvPr/>
        </p:nvSpPr>
        <p:spPr bwMode="auto">
          <a:xfrm>
            <a:off x="6029325" y="4147820"/>
            <a:ext cx="2076450" cy="1899285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134" name="Picture 38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90" b="42133"/>
          <a:stretch>
            <a:fillRect/>
          </a:stretch>
        </p:blipFill>
        <p:spPr bwMode="auto">
          <a:xfrm>
            <a:off x="6342380" y="4810125"/>
            <a:ext cx="1141095" cy="1080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35" name="Oval 39"/>
          <p:cNvSpPr>
            <a:spLocks noChangeArrowheads="1"/>
          </p:cNvSpPr>
          <p:nvPr/>
        </p:nvSpPr>
        <p:spPr bwMode="auto">
          <a:xfrm>
            <a:off x="6864350" y="4289425"/>
            <a:ext cx="1242060" cy="64706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6" name="Rectangle 40"/>
          <p:cNvSpPr>
            <a:spLocks noChangeArrowheads="1"/>
          </p:cNvSpPr>
          <p:nvPr/>
        </p:nvSpPr>
        <p:spPr bwMode="auto">
          <a:xfrm>
            <a:off x="6158865" y="4460875"/>
            <a:ext cx="2299335" cy="304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latin typeface="Arial" panose="020B0604020202020204" pitchFamily="34" charset="0"/>
              </a:rPr>
              <a:t>Number 580625685</a:t>
            </a:r>
            <a:endParaRPr lang="en-US" sz="1400" b="1">
              <a:latin typeface="Arial" panose="020B0604020202020204" pitchFamily="34" charset="0"/>
            </a:endParaRPr>
          </a:p>
        </p:txBody>
      </p:sp>
      <p:sp>
        <p:nvSpPr>
          <p:cNvPr id="4137" name="Text Box 41"/>
          <p:cNvSpPr txBox="1">
            <a:spLocks noChangeArrowheads="1"/>
          </p:cNvSpPr>
          <p:nvPr/>
        </p:nvSpPr>
        <p:spPr bwMode="auto">
          <a:xfrm>
            <a:off x="457200" y="4147820"/>
            <a:ext cx="54864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Each record in list has an associated key.</a:t>
            </a:r>
            <a:endParaRPr lang="en-US"/>
          </a:p>
          <a:p>
            <a:r>
              <a:rPr lang="en-US"/>
              <a:t>In this example, the keys are ID numbers.</a:t>
            </a:r>
            <a:endParaRPr lang="en-US"/>
          </a:p>
          <a:p>
            <a:endParaRPr lang="en-US"/>
          </a:p>
          <a:p>
            <a:r>
              <a:rPr lang="en-US"/>
              <a:t>Given a particular key, how can we efficiently retrieve the record from the list?</a:t>
            </a:r>
            <a:endParaRPr lang="en-US"/>
          </a:p>
        </p:txBody>
      </p:sp>
      <p:sp>
        <p:nvSpPr>
          <p:cNvPr id="4141" name="Line 45"/>
          <p:cNvSpPr>
            <a:spLocks noChangeShapeType="1"/>
          </p:cNvSpPr>
          <p:nvPr/>
        </p:nvSpPr>
        <p:spPr bwMode="auto">
          <a:xfrm>
            <a:off x="4038600" y="3505200"/>
            <a:ext cx="1981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3" name="Line 47"/>
          <p:cNvSpPr>
            <a:spLocks noChangeShapeType="1"/>
          </p:cNvSpPr>
          <p:nvPr/>
        </p:nvSpPr>
        <p:spPr bwMode="auto">
          <a:xfrm>
            <a:off x="5181600" y="3505200"/>
            <a:ext cx="2133600" cy="6426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Content Placeholder 1" descr="download"/>
          <p:cNvPicPr>
            <a:picLocks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943600" y="82550"/>
            <a:ext cx="1591945" cy="1713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0" dur="500"/>
                                        <p:tgtEl>
                                          <p:spTgt spid="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3" dur="5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6"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9"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4" dur="2000"/>
                                        <p:tgtEl>
                                          <p:spTgt spid="4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7" dur="2000"/>
                                        <p:tgtEl>
                                          <p:spTgt spid="4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0" dur="2000"/>
                                        <p:tgtEl>
                                          <p:spTgt spid="4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112" grpId="0" animBg="1"/>
      <p:bldP spid="4099" grpId="0" animBg="1"/>
      <p:bldP spid="4106" grpId="0" animBg="1"/>
      <p:bldP spid="4107" grpId="0" animBg="1"/>
      <p:bldP spid="4108" grpId="0" animBg="1"/>
      <p:bldP spid="4109" grpId="0" animBg="1"/>
      <p:bldP spid="4110" grpId="0" animBg="1"/>
      <p:bldP spid="4113" grpId="0" animBg="1"/>
      <p:bldP spid="4132" grpId="0" animBg="1"/>
      <p:bldP spid="4133" grpId="0" animBg="1"/>
      <p:bldP spid="4135" grpId="0" animBg="1"/>
      <p:bldP spid="41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8340" y="416560"/>
            <a:ext cx="8229600" cy="582613"/>
          </a:xfrm>
        </p:spPr>
        <p:txBody>
          <a:bodyPr/>
          <a:lstStyle/>
          <a:p>
            <a:r>
              <a:rPr lang="en-US" b="1" dirty="0" smtClean="0"/>
              <a:t>Linear </a:t>
            </a:r>
            <a:r>
              <a:rPr lang="en-US" b="1" dirty="0"/>
              <a:t>Search</a:t>
            </a:r>
            <a:endParaRPr lang="en-US" b="1" dirty="0"/>
          </a:p>
        </p:txBody>
      </p:sp>
      <p:sp>
        <p:nvSpPr>
          <p:cNvPr id="71683" name="Rectangle 1027"/>
          <p:cNvSpPr>
            <a:spLocks noGrp="1" noChangeArrowheads="1"/>
          </p:cNvSpPr>
          <p:nvPr>
            <p:ph sz="half" idx="2"/>
          </p:nvPr>
        </p:nvSpPr>
        <p:spPr>
          <a:xfrm>
            <a:off x="688340" y="1294130"/>
            <a:ext cx="7533005" cy="4846955"/>
          </a:xfrm>
        </p:spPr>
        <p:txBody>
          <a:bodyPr/>
          <a:lstStyle/>
          <a:p>
            <a:pPr algn="just"/>
            <a:r>
              <a:rPr lang="en-US" sz="2800" dirty="0"/>
              <a:t>Step through array of records, one at a time.</a:t>
            </a:r>
            <a:endParaRPr lang="en-US" sz="2800" dirty="0"/>
          </a:p>
          <a:p>
            <a:pPr algn="just"/>
            <a:r>
              <a:rPr lang="en-US" sz="2800" dirty="0"/>
              <a:t>Look for record with matching key.</a:t>
            </a:r>
            <a:endParaRPr lang="en-US" sz="2800" dirty="0"/>
          </a:p>
          <a:p>
            <a:pPr algn="just"/>
            <a:r>
              <a:rPr lang="en-US" sz="2800" dirty="0"/>
              <a:t>Search stops when </a:t>
            </a:r>
            <a:endParaRPr lang="en-US" sz="2800" dirty="0"/>
          </a:p>
          <a:p>
            <a:pPr lvl="1" algn="just"/>
            <a:r>
              <a:rPr lang="en-US" sz="2800" dirty="0"/>
              <a:t>record with matching key is found</a:t>
            </a:r>
            <a:endParaRPr lang="en-US" sz="2800" dirty="0"/>
          </a:p>
          <a:p>
            <a:pPr lvl="1" algn="just"/>
            <a:r>
              <a:rPr lang="en-US" sz="2800" dirty="0"/>
              <a:t>or when search has examined all records without success.</a:t>
            </a:r>
            <a:endParaRPr lang="en-US" sz="2800" dirty="0"/>
          </a:p>
        </p:txBody>
      </p:sp>
      <p:pic>
        <p:nvPicPr>
          <p:cNvPr id="2" name="Content Placeholder 1" descr="images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572760" y="3862070"/>
            <a:ext cx="1943100" cy="205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3418840" cy="582930"/>
          </a:xfrm>
        </p:spPr>
        <p:txBody>
          <a:bodyPr/>
          <a:lstStyle/>
          <a:p>
            <a:r>
              <a:rPr lang="en-US" sz="3200" b="1" dirty="0" smtClean="0"/>
              <a:t>Search k =11</a:t>
            </a:r>
            <a:endParaRPr lang="en-US" sz="3200" b="1" dirty="0" smtClean="0"/>
          </a:p>
        </p:txBody>
      </p:sp>
      <p:graphicFrame>
        <p:nvGraphicFramePr>
          <p:cNvPr id="5" name="Table 11"/>
          <p:cNvGraphicFramePr>
            <a:graphicFrameLocks noGrp="1"/>
          </p:cNvGraphicFramePr>
          <p:nvPr/>
        </p:nvGraphicFramePr>
        <p:xfrm>
          <a:off x="381000" y="762000"/>
          <a:ext cx="8128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0446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70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40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30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52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482229" y="1524000"/>
            <a:ext cx="864339" cy="755620"/>
            <a:chOff x="482229" y="2087880"/>
            <a:chExt cx="864339" cy="755620"/>
          </a:xfrm>
        </p:grpSpPr>
        <p:cxnSp>
          <p:nvCxnSpPr>
            <p:cNvPr id="7" name="Straight Arrow Connector 6"/>
            <p:cNvCxnSpPr/>
            <p:nvPr/>
          </p:nvCxnSpPr>
          <p:spPr bwMode="auto">
            <a:xfrm flipV="1">
              <a:off x="914399" y="2087880"/>
              <a:ext cx="1" cy="35052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482229" y="2443390"/>
              <a:ext cx="8643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 </a:t>
              </a:r>
              <a:r>
                <a:rPr lang="en-US" sz="2000" b="1" dirty="0"/>
                <a:t>≠</a:t>
              </a:r>
              <a:r>
                <a:rPr lang="en-US" dirty="0"/>
                <a:t> </a:t>
              </a:r>
              <a:r>
                <a:rPr lang="en-US" dirty="0" smtClean="0"/>
                <a:t>70</a:t>
              </a:r>
              <a:endParaRPr lang="en-GB" dirty="0"/>
            </a:p>
          </p:txBody>
        </p:sp>
      </p:grpSp>
      <p:graphicFrame>
        <p:nvGraphicFramePr>
          <p:cNvPr id="9" name="Table 11"/>
          <p:cNvGraphicFramePr>
            <a:graphicFrameLocks noGrp="1"/>
          </p:cNvGraphicFramePr>
          <p:nvPr/>
        </p:nvGraphicFramePr>
        <p:xfrm>
          <a:off x="381000" y="2209800"/>
          <a:ext cx="8128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3528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0446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70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40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30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52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1981200" y="2971800"/>
            <a:ext cx="864339" cy="755620"/>
            <a:chOff x="634629" y="2240280"/>
            <a:chExt cx="864339" cy="755620"/>
          </a:xfrm>
        </p:grpSpPr>
        <p:cxnSp>
          <p:nvCxnSpPr>
            <p:cNvPr id="11" name="Straight Arrow Connector 10"/>
            <p:cNvCxnSpPr/>
            <p:nvPr/>
          </p:nvCxnSpPr>
          <p:spPr bwMode="auto">
            <a:xfrm flipV="1">
              <a:off x="1066799" y="2240280"/>
              <a:ext cx="1" cy="35052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634629" y="2595790"/>
              <a:ext cx="8643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K </a:t>
              </a:r>
              <a:r>
                <a:rPr lang="en-US" sz="2000" b="1" dirty="0" smtClean="0"/>
                <a:t>≠</a:t>
              </a:r>
              <a:r>
                <a:rPr lang="en-US" dirty="0" smtClean="0"/>
                <a:t> 40</a:t>
              </a:r>
              <a:endParaRPr lang="en-GB" dirty="0"/>
            </a:p>
          </p:txBody>
        </p:sp>
      </p:grpSp>
      <p:graphicFrame>
        <p:nvGraphicFramePr>
          <p:cNvPr id="14" name="Table 11"/>
          <p:cNvGraphicFramePr>
            <a:graphicFrameLocks noGrp="1"/>
          </p:cNvGraphicFramePr>
          <p:nvPr/>
        </p:nvGraphicFramePr>
        <p:xfrm>
          <a:off x="464974" y="5074920"/>
          <a:ext cx="8128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0446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70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40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30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52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1"/>
          <p:cNvGraphicFramePr>
            <a:graphicFrameLocks noGrp="1"/>
          </p:cNvGraphicFramePr>
          <p:nvPr/>
        </p:nvGraphicFramePr>
        <p:xfrm>
          <a:off x="464974" y="3657600"/>
          <a:ext cx="8128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0446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70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40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30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52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3736416" y="4419600"/>
            <a:ext cx="864339" cy="755620"/>
            <a:chOff x="634629" y="2240280"/>
            <a:chExt cx="864339" cy="755620"/>
          </a:xfrm>
        </p:grpSpPr>
        <p:cxnSp>
          <p:nvCxnSpPr>
            <p:cNvPr id="19" name="Straight Arrow Connector 18"/>
            <p:cNvCxnSpPr/>
            <p:nvPr/>
          </p:nvCxnSpPr>
          <p:spPr bwMode="auto">
            <a:xfrm flipV="1">
              <a:off x="1066799" y="2240280"/>
              <a:ext cx="1" cy="35052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34629" y="2595790"/>
              <a:ext cx="8643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K </a:t>
              </a:r>
              <a:r>
                <a:rPr lang="en-US" sz="2000" b="1" dirty="0" smtClean="0"/>
                <a:t>≠</a:t>
              </a:r>
              <a:r>
                <a:rPr lang="en-US" dirty="0" smtClean="0"/>
                <a:t> 30</a:t>
              </a:r>
              <a:endParaRPr lang="en-GB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271135" y="5867505"/>
            <a:ext cx="1220470" cy="877480"/>
            <a:chOff x="634629" y="2240280"/>
            <a:chExt cx="1220470" cy="877480"/>
          </a:xfrm>
        </p:grpSpPr>
        <p:cxnSp>
          <p:nvCxnSpPr>
            <p:cNvPr id="22" name="Straight Arrow Connector 21"/>
            <p:cNvCxnSpPr/>
            <p:nvPr/>
          </p:nvCxnSpPr>
          <p:spPr bwMode="auto">
            <a:xfrm flipV="1">
              <a:off x="1066799" y="2240280"/>
              <a:ext cx="1" cy="35052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634629" y="2595790"/>
              <a:ext cx="122047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K = 11</a:t>
              </a:r>
              <a:endParaRPr lang="en-GB" sz="2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26"/>
          <p:cNvSpPr>
            <a:spLocks noGrp="1" noChangeArrowheads="1"/>
          </p:cNvSpPr>
          <p:nvPr/>
        </p:nvSpPr>
        <p:spPr>
          <a:xfrm>
            <a:off x="1073150" y="509905"/>
            <a:ext cx="3990340" cy="80835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b="1"/>
              <a:t>Pseudocode</a:t>
            </a:r>
            <a:endParaRPr lang="en-US"/>
          </a:p>
        </p:txBody>
      </p:sp>
      <p:sp>
        <p:nvSpPr>
          <p:cNvPr id="6" name="Text Box 1028"/>
          <p:cNvSpPr txBox="1">
            <a:spLocks noChangeArrowheads="1"/>
          </p:cNvSpPr>
          <p:nvPr/>
        </p:nvSpPr>
        <p:spPr bwMode="auto">
          <a:xfrm>
            <a:off x="1073150" y="1582420"/>
            <a:ext cx="7373938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/>
              <a:t>// Search for a desired item in the n array elements </a:t>
            </a:r>
            <a:endParaRPr lang="en-US" dirty="0"/>
          </a:p>
          <a:p>
            <a:r>
              <a:rPr lang="en-US" dirty="0"/>
              <a:t>// starting at a[first].  </a:t>
            </a:r>
            <a:endParaRPr lang="en-US" dirty="0"/>
          </a:p>
          <a:p>
            <a:r>
              <a:rPr lang="en-US" dirty="0"/>
              <a:t>// Returns pointer to desired record if found.</a:t>
            </a:r>
            <a:endParaRPr lang="en-US" dirty="0"/>
          </a:p>
          <a:p>
            <a:r>
              <a:rPr lang="en-US" dirty="0"/>
              <a:t>// Otherwise, return </a:t>
            </a:r>
            <a:r>
              <a:rPr lang="en-US" dirty="0" smtClean="0"/>
              <a:t>NULL</a:t>
            </a:r>
            <a:endParaRPr lang="en-US" dirty="0"/>
          </a:p>
          <a:p>
            <a:r>
              <a:rPr lang="en-US" sz="2800" b="1" dirty="0"/>
              <a:t>for(</a:t>
            </a:r>
            <a:r>
              <a:rPr lang="en-US" sz="2800" b="1" dirty="0" err="1"/>
              <a:t>i</a:t>
            </a:r>
            <a:r>
              <a:rPr lang="en-US" sz="2800" b="1" dirty="0"/>
              <a:t> = </a:t>
            </a:r>
            <a:r>
              <a:rPr lang="en-US" sz="2800" b="1" dirty="0" smtClean="0"/>
              <a:t>0; </a:t>
            </a:r>
            <a:r>
              <a:rPr lang="en-US" sz="2800" b="1" dirty="0" err="1"/>
              <a:t>i</a:t>
            </a:r>
            <a:r>
              <a:rPr lang="en-US" sz="2800" b="1" dirty="0"/>
              <a:t> &lt; n; </a:t>
            </a:r>
            <a:r>
              <a:rPr lang="en-US" sz="2800" b="1" dirty="0" err="1" smtClean="0"/>
              <a:t>i</a:t>
            </a:r>
            <a:r>
              <a:rPr lang="en-US" sz="2800" b="1" dirty="0" smtClean="0"/>
              <a:t>++ )</a:t>
            </a:r>
            <a:endParaRPr lang="en-US" sz="2800" b="1" dirty="0" smtClean="0"/>
          </a:p>
          <a:p>
            <a:r>
              <a:rPr lang="en-US" sz="2800" b="1" dirty="0"/>
              <a:t>{</a:t>
            </a:r>
            <a:endParaRPr lang="en-US" sz="2800" b="1" dirty="0"/>
          </a:p>
          <a:p>
            <a:r>
              <a:rPr lang="en-US" sz="2800" dirty="0"/>
              <a:t>	</a:t>
            </a:r>
            <a:r>
              <a:rPr lang="en-US" sz="2800" dirty="0" smtClean="0"/>
              <a:t>if(a[</a:t>
            </a:r>
            <a:r>
              <a:rPr lang="en-US" sz="2800" dirty="0" err="1" smtClean="0"/>
              <a:t>i</a:t>
            </a:r>
            <a:r>
              <a:rPr lang="en-US" sz="2800" dirty="0" smtClean="0"/>
              <a:t>] </a:t>
            </a:r>
            <a:r>
              <a:rPr lang="en-US" sz="2800" dirty="0"/>
              <a:t>is desired item)</a:t>
            </a:r>
            <a:endParaRPr lang="en-US" sz="2800" dirty="0"/>
          </a:p>
          <a:p>
            <a:r>
              <a:rPr lang="en-US" sz="2800" dirty="0"/>
              <a:t>		return &amp;</a:t>
            </a:r>
            <a:r>
              <a:rPr lang="en-US" sz="2800" dirty="0" smtClean="0"/>
              <a:t>a[</a:t>
            </a:r>
            <a:r>
              <a:rPr lang="en-US" sz="2800" dirty="0" err="1" smtClean="0"/>
              <a:t>i</a:t>
            </a:r>
            <a:r>
              <a:rPr lang="en-US" sz="2800" dirty="0" smtClean="0"/>
              <a:t>];</a:t>
            </a:r>
            <a:endParaRPr lang="en-US" sz="2800" dirty="0"/>
          </a:p>
          <a:p>
            <a:r>
              <a:rPr lang="en-US" sz="2800" b="1" dirty="0" smtClean="0"/>
              <a:t>}</a:t>
            </a:r>
            <a:endParaRPr lang="en-US" sz="2800" b="1" dirty="0"/>
          </a:p>
          <a:p>
            <a:r>
              <a:rPr lang="en-US" dirty="0"/>
              <a:t>// if we drop through loop, then desired item was not found</a:t>
            </a:r>
            <a:endParaRPr lang="en-US" dirty="0"/>
          </a:p>
          <a:p>
            <a:r>
              <a:rPr lang="en-US" dirty="0"/>
              <a:t>return NULL;</a:t>
            </a:r>
            <a:endParaRPr lang="en-US" dirty="0"/>
          </a:p>
        </p:txBody>
      </p:sp>
      <p:pic>
        <p:nvPicPr>
          <p:cNvPr id="7" name="Content Placeholder 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280" y="2167255"/>
            <a:ext cx="2143125" cy="2143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3755" y="403225"/>
            <a:ext cx="8229600" cy="582613"/>
          </a:xfrm>
        </p:spPr>
        <p:txBody>
          <a:bodyPr/>
          <a:lstStyle/>
          <a:p>
            <a:r>
              <a:rPr lang="en-US" b="1" dirty="0" smtClean="0"/>
              <a:t>Linear </a:t>
            </a:r>
            <a:r>
              <a:rPr lang="en-US" b="1" dirty="0"/>
              <a:t>Search Analysis</a:t>
            </a:r>
            <a:endParaRPr lang="en-US" b="1" dirty="0"/>
          </a:p>
        </p:txBody>
      </p:sp>
      <p:sp>
        <p:nvSpPr>
          <p:cNvPr id="73731" name="Rectangle 1027"/>
          <p:cNvSpPr>
            <a:spLocks noGrp="1" noChangeArrowheads="1"/>
          </p:cNvSpPr>
          <p:nvPr>
            <p:ph sz="half" idx="2"/>
          </p:nvPr>
        </p:nvSpPr>
        <p:spPr>
          <a:xfrm>
            <a:off x="833755" y="1373505"/>
            <a:ext cx="7268210" cy="4714240"/>
          </a:xfrm>
        </p:spPr>
        <p:txBody>
          <a:bodyPr/>
          <a:lstStyle/>
          <a:p>
            <a:pPr algn="just"/>
            <a:r>
              <a:rPr lang="en-US" sz="2800"/>
              <a:t>What are the worst and average case running times for serial search? </a:t>
            </a:r>
            <a:endParaRPr lang="en-US" sz="2800"/>
          </a:p>
          <a:p>
            <a:pPr algn="just"/>
            <a:r>
              <a:rPr lang="en-US" sz="2800"/>
              <a:t>We must determine the O-notation for the number of operations required in search.</a:t>
            </a:r>
            <a:endParaRPr lang="en-US" sz="2800"/>
          </a:p>
          <a:p>
            <a:pPr algn="just"/>
            <a:r>
              <a:rPr lang="en-US" sz="2800"/>
              <a:t>Number of operations depends on </a:t>
            </a:r>
            <a:r>
              <a:rPr lang="en-US" sz="2800" i="1"/>
              <a:t>n</a:t>
            </a:r>
            <a:r>
              <a:rPr lang="en-US" sz="2800"/>
              <a:t>, the number of entries in the list.</a:t>
            </a:r>
            <a:endParaRPr lang="en-US"/>
          </a:p>
          <a:p>
            <a:pPr>
              <a:buFontTx/>
              <a:buNone/>
            </a:pPr>
            <a:endParaRPr lang="en-US"/>
          </a:p>
        </p:txBody>
      </p:sp>
      <p:pic>
        <p:nvPicPr>
          <p:cNvPr id="3" name="Content Placeholder 2" descr="download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968365" y="3920490"/>
            <a:ext cx="1895475" cy="2047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90550" y="483235"/>
            <a:ext cx="8229600" cy="582613"/>
          </a:xfrm>
        </p:spPr>
        <p:txBody>
          <a:bodyPr/>
          <a:lstStyle/>
          <a:p>
            <a:r>
              <a:rPr lang="en-US" b="1" dirty="0"/>
              <a:t>Worst Case Time for </a:t>
            </a:r>
            <a:r>
              <a:rPr lang="en-US" b="1" dirty="0" smtClean="0"/>
              <a:t>Linear </a:t>
            </a:r>
            <a:r>
              <a:rPr lang="en-US" b="1" dirty="0"/>
              <a:t>Search</a:t>
            </a:r>
            <a:endParaRPr lang="en-US" b="1" dirty="0"/>
          </a:p>
        </p:txBody>
      </p:sp>
      <p:sp>
        <p:nvSpPr>
          <p:cNvPr id="74755" name="Rectangle 1027"/>
          <p:cNvSpPr>
            <a:spLocks noGrp="1" noChangeArrowheads="1"/>
          </p:cNvSpPr>
          <p:nvPr>
            <p:ph sz="half" idx="2"/>
          </p:nvPr>
        </p:nvSpPr>
        <p:spPr>
          <a:xfrm>
            <a:off x="859790" y="1281430"/>
            <a:ext cx="7228205" cy="4726940"/>
          </a:xfrm>
        </p:spPr>
        <p:txBody>
          <a:bodyPr/>
          <a:lstStyle/>
          <a:p>
            <a:pPr algn="just"/>
            <a:r>
              <a:rPr lang="en-US" sz="2400"/>
              <a:t>For an array of </a:t>
            </a:r>
            <a:r>
              <a:rPr lang="en-US" sz="2400" i="1"/>
              <a:t>n</a:t>
            </a:r>
            <a:r>
              <a:rPr lang="en-US" sz="2400"/>
              <a:t> elements, the worst case time for serial search requires </a:t>
            </a:r>
            <a:r>
              <a:rPr lang="en-US" sz="2400" i="1"/>
              <a:t>n</a:t>
            </a:r>
            <a:r>
              <a:rPr lang="en-US" sz="2400"/>
              <a:t> array accesses: O(</a:t>
            </a:r>
            <a:r>
              <a:rPr lang="en-US" sz="2400" i="1"/>
              <a:t>n</a:t>
            </a:r>
            <a:r>
              <a:rPr lang="en-US" sz="2400"/>
              <a:t>).</a:t>
            </a:r>
            <a:endParaRPr lang="en-US" sz="2400"/>
          </a:p>
          <a:p>
            <a:pPr algn="just"/>
            <a:r>
              <a:rPr lang="en-US" sz="2400"/>
              <a:t>Consider cases where we must loop over all </a:t>
            </a:r>
            <a:r>
              <a:rPr lang="en-US" sz="2400" i="1"/>
              <a:t>n</a:t>
            </a:r>
            <a:r>
              <a:rPr lang="en-US" sz="2400"/>
              <a:t> records:</a:t>
            </a:r>
            <a:endParaRPr lang="en-US" sz="2400"/>
          </a:p>
          <a:p>
            <a:pPr lvl="1" algn="just"/>
            <a:r>
              <a:rPr lang="en-US" sz="2400"/>
              <a:t>desired record appears in the last position of the array</a:t>
            </a:r>
            <a:endParaRPr lang="en-US" sz="2400"/>
          </a:p>
          <a:p>
            <a:pPr lvl="1" algn="just"/>
            <a:r>
              <a:rPr lang="en-US" sz="2400"/>
              <a:t>desired record does not appear in the array at all</a:t>
            </a:r>
            <a:endParaRPr lang="en-US" sz="2400"/>
          </a:p>
        </p:txBody>
      </p:sp>
      <p:pic>
        <p:nvPicPr>
          <p:cNvPr id="2" name="Content Placeholder 1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090920" y="4224020"/>
            <a:ext cx="1864360" cy="18643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02640" y="443230"/>
            <a:ext cx="8229600" cy="582613"/>
          </a:xfrm>
        </p:spPr>
        <p:txBody>
          <a:bodyPr/>
          <a:lstStyle/>
          <a:p>
            <a:r>
              <a:rPr lang="en-US" b="1" dirty="0"/>
              <a:t>Average Case for </a:t>
            </a:r>
            <a:r>
              <a:rPr lang="en-US" b="1" dirty="0" smtClean="0"/>
              <a:t>Linear </a:t>
            </a:r>
            <a:r>
              <a:rPr lang="en-US" b="1" dirty="0"/>
              <a:t>Search</a:t>
            </a:r>
            <a:endParaRPr lang="en-US" b="1" dirty="0"/>
          </a:p>
        </p:txBody>
      </p:sp>
      <p:sp>
        <p:nvSpPr>
          <p:cNvPr id="75779" name="Rectangle 1027"/>
          <p:cNvSpPr>
            <a:spLocks noGrp="1" noChangeArrowheads="1"/>
          </p:cNvSpPr>
          <p:nvPr>
            <p:ph sz="half" idx="2"/>
          </p:nvPr>
        </p:nvSpPr>
        <p:spPr>
          <a:xfrm>
            <a:off x="1019810" y="1244600"/>
            <a:ext cx="6670040" cy="4660900"/>
          </a:xfrm>
        </p:spPr>
        <p:txBody>
          <a:bodyPr>
            <a:normAutofit/>
          </a:bodyPr>
          <a:lstStyle/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n-US" sz="2000"/>
              <a:t>Assumptions:</a:t>
            </a:r>
            <a:endParaRPr lang="en-US" sz="2000"/>
          </a:p>
          <a:p>
            <a:pPr marL="990600" lvl="1" indent="-533400" algn="just">
              <a:lnSpc>
                <a:spcPct val="90000"/>
              </a:lnSpc>
              <a:buFontTx/>
              <a:buAutoNum type="arabicPeriod"/>
            </a:pPr>
            <a:r>
              <a:rPr lang="en-US" sz="2000"/>
              <a:t>All keys are equally likely in a search</a:t>
            </a:r>
            <a:endParaRPr lang="en-US" sz="2000"/>
          </a:p>
          <a:p>
            <a:pPr marL="990600" lvl="1" indent="-533400" algn="just">
              <a:lnSpc>
                <a:spcPct val="90000"/>
              </a:lnSpc>
              <a:buFontTx/>
              <a:buAutoNum type="arabicPeriod"/>
            </a:pPr>
            <a:r>
              <a:rPr lang="en-US" sz="2000"/>
              <a:t>We always search for a key that is in the array</a:t>
            </a:r>
            <a:endParaRPr lang="en-US" sz="2000"/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n-US" sz="2000"/>
              <a:t>Example: </a:t>
            </a:r>
            <a:endParaRPr lang="en-US" sz="2000"/>
          </a:p>
          <a:p>
            <a:pPr marL="609600" indent="-609600" algn="just">
              <a:lnSpc>
                <a:spcPct val="90000"/>
              </a:lnSpc>
            </a:pPr>
            <a:r>
              <a:rPr lang="en-US" sz="2000"/>
              <a:t>We have an array of 10 records.</a:t>
            </a:r>
            <a:endParaRPr lang="en-US" sz="2000"/>
          </a:p>
          <a:p>
            <a:pPr marL="609600" indent="-609600" algn="just">
              <a:lnSpc>
                <a:spcPct val="90000"/>
              </a:lnSpc>
            </a:pPr>
            <a:r>
              <a:rPr lang="en-US" sz="2000"/>
              <a:t>If search for the first record, then it requires 1 array access; if the second, then 2 array accesses. </a:t>
            </a:r>
            <a:r>
              <a:rPr lang="en-US" sz="2000" i="1"/>
              <a:t>etc.</a:t>
            </a:r>
            <a:endParaRPr lang="en-US" sz="2000" i="1"/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n-US" sz="2000"/>
              <a:t>The average of all these searches is:</a:t>
            </a:r>
            <a:endParaRPr lang="en-US" sz="2000"/>
          </a:p>
          <a:p>
            <a:pPr marL="990600" lvl="1" indent="-533400" algn="just">
              <a:lnSpc>
                <a:spcPct val="90000"/>
              </a:lnSpc>
              <a:buFontTx/>
              <a:buNone/>
            </a:pPr>
            <a:r>
              <a:rPr lang="en-US" sz="2000" i="1"/>
              <a:t>(1+2+3+4+5+6+7+8+9+10)/10 = 5.5</a:t>
            </a:r>
            <a:endParaRPr lang="en-US" sz="2000" i="1"/>
          </a:p>
        </p:txBody>
      </p:sp>
      <p:pic>
        <p:nvPicPr>
          <p:cNvPr id="2" name="Content Placeholder 1" descr="download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121400" y="3886200"/>
            <a:ext cx="1876425" cy="2019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89915" y="509905"/>
            <a:ext cx="8229600" cy="582613"/>
          </a:xfrm>
        </p:spPr>
        <p:txBody>
          <a:bodyPr/>
          <a:lstStyle/>
          <a:p>
            <a:r>
              <a:rPr lang="en-US" sz="3200" b="1" dirty="0"/>
              <a:t>Average Case Time for </a:t>
            </a:r>
            <a:r>
              <a:rPr lang="en-US" sz="3200" b="1" dirty="0" smtClean="0"/>
              <a:t>Linear </a:t>
            </a:r>
            <a:r>
              <a:rPr lang="en-US" sz="3200" b="1" dirty="0"/>
              <a:t>Search</a:t>
            </a:r>
            <a:endParaRPr lang="en-US" sz="3200" b="1" dirty="0"/>
          </a:p>
        </p:txBody>
      </p:sp>
      <p:sp>
        <p:nvSpPr>
          <p:cNvPr id="76803" name="Rectangle 1027"/>
          <p:cNvSpPr>
            <a:spLocks noGrp="1" noChangeArrowheads="1"/>
          </p:cNvSpPr>
          <p:nvPr>
            <p:ph sz="half" idx="2"/>
          </p:nvPr>
        </p:nvSpPr>
        <p:spPr>
          <a:xfrm>
            <a:off x="741045" y="1359535"/>
            <a:ext cx="6949440" cy="4674870"/>
          </a:xfrm>
        </p:spPr>
        <p:txBody>
          <a:bodyPr/>
          <a:lstStyle/>
          <a:p>
            <a:pPr algn="just">
              <a:lnSpc>
                <a:spcPct val="90000"/>
              </a:lnSpc>
              <a:buFontTx/>
              <a:buNone/>
            </a:pPr>
            <a:r>
              <a:rPr lang="en-US" sz="2400"/>
              <a:t>Generalize for array size </a:t>
            </a:r>
            <a:r>
              <a:rPr lang="en-US" sz="2400" i="1"/>
              <a:t>n.</a:t>
            </a:r>
            <a:endParaRPr lang="en-US" sz="2400" i="1"/>
          </a:p>
          <a:p>
            <a:pPr algn="just">
              <a:lnSpc>
                <a:spcPct val="90000"/>
              </a:lnSpc>
              <a:buFontTx/>
              <a:buNone/>
            </a:pPr>
            <a:endParaRPr lang="en-US" sz="2400" i="1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400"/>
              <a:t>Expression for average-case running time:</a:t>
            </a:r>
            <a:endParaRPr lang="en-US" sz="2400"/>
          </a:p>
          <a:p>
            <a:pPr algn="just">
              <a:lnSpc>
                <a:spcPct val="90000"/>
              </a:lnSpc>
              <a:buFontTx/>
              <a:buNone/>
            </a:pPr>
            <a:endParaRPr lang="en-US" sz="240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400"/>
              <a:t>(1+2+…+n)/n = n(n+1)/2n = (n+1)/2 </a:t>
            </a:r>
            <a:endParaRPr lang="en-US" sz="2400"/>
          </a:p>
          <a:p>
            <a:pPr algn="just">
              <a:lnSpc>
                <a:spcPct val="90000"/>
              </a:lnSpc>
              <a:buFontTx/>
              <a:buNone/>
            </a:pPr>
            <a:endParaRPr lang="en-US" sz="240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400"/>
              <a:t>Therefore, average case time complexity for serial search is O(n).</a:t>
            </a:r>
            <a:endParaRPr lang="en-US" sz="2800"/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i="1"/>
              <a:t>	</a:t>
            </a:r>
            <a:endParaRPr lang="en-US" sz="2800" i="1"/>
          </a:p>
        </p:txBody>
      </p:sp>
      <p:pic>
        <p:nvPicPr>
          <p:cNvPr id="2" name="Content Placeholder 1" descr="images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285230" y="4142105"/>
            <a:ext cx="1943100" cy="2057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335" y="403225"/>
            <a:ext cx="8229600" cy="582613"/>
          </a:xfrm>
        </p:spPr>
        <p:txBody>
          <a:bodyPr/>
          <a:lstStyle/>
          <a:p>
            <a:r>
              <a:rPr lang="en-US" b="1" dirty="0" smtClean="0"/>
              <a:t>Pros and Cons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5335" y="1174750"/>
            <a:ext cx="7136130" cy="495300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 smtClean="0"/>
              <a:t>Pros</a:t>
            </a:r>
            <a:endParaRPr lang="en-US" sz="2400" b="1" dirty="0" smtClean="0"/>
          </a:p>
          <a:p>
            <a:pPr algn="just"/>
            <a:r>
              <a:rPr lang="en-US" sz="2400" dirty="0"/>
              <a:t>Will perform fast searches of small to medium </a:t>
            </a:r>
            <a:r>
              <a:rPr lang="en-US" sz="2400" dirty="0" smtClean="0"/>
              <a:t>lists</a:t>
            </a:r>
            <a:endParaRPr lang="en-US" sz="2400" dirty="0" smtClean="0"/>
          </a:p>
          <a:p>
            <a:pPr algn="just"/>
            <a:r>
              <a:rPr lang="en-US" sz="2400" dirty="0" smtClean="0"/>
              <a:t>The </a:t>
            </a:r>
            <a:r>
              <a:rPr lang="en-US" sz="2400" dirty="0"/>
              <a:t>list does not need to </a:t>
            </a:r>
            <a:r>
              <a:rPr lang="en-US" sz="2400" dirty="0" smtClean="0"/>
              <a:t>sorted</a:t>
            </a:r>
            <a:endParaRPr lang="en-US" sz="2400" dirty="0"/>
          </a:p>
          <a:p>
            <a:pPr algn="just"/>
            <a:r>
              <a:rPr lang="en-US" sz="2400" dirty="0" smtClean="0"/>
              <a:t>Not </a:t>
            </a:r>
            <a:r>
              <a:rPr lang="en-US" sz="2400" dirty="0"/>
              <a:t>affected by insertions and </a:t>
            </a:r>
            <a:r>
              <a:rPr lang="en-US" sz="2400" dirty="0" smtClean="0"/>
              <a:t>deletions</a:t>
            </a:r>
            <a:endParaRPr lang="en-US" sz="2400" dirty="0" smtClean="0"/>
          </a:p>
          <a:p>
            <a:pPr algn="just"/>
            <a:r>
              <a:rPr lang="en-US" sz="2400" b="1" dirty="0" smtClean="0"/>
              <a:t>Cons</a:t>
            </a:r>
            <a:endParaRPr lang="en-US" sz="2400" b="1" dirty="0" smtClean="0"/>
          </a:p>
          <a:p>
            <a:pPr algn="just"/>
            <a:r>
              <a:rPr lang="en-US" sz="2400" dirty="0"/>
              <a:t>Slow searching of large lists</a:t>
            </a:r>
            <a:endParaRPr lang="en-US" sz="2400" dirty="0" smtClean="0"/>
          </a:p>
        </p:txBody>
      </p:sp>
      <p:pic>
        <p:nvPicPr>
          <p:cNvPr id="4" name="Content Placeholder 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061075" y="3722370"/>
            <a:ext cx="2143125" cy="2143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2038985" y="2626995"/>
            <a:ext cx="4038600" cy="873125"/>
          </a:xfrm>
        </p:spPr>
        <p:txBody>
          <a:bodyPr/>
          <a:p>
            <a:pPr marL="0" indent="0">
              <a:buNone/>
            </a:pPr>
            <a:r>
              <a:rPr lang="en-US" sz="3600" b="1"/>
              <a:t>Thank You!!</a:t>
            </a:r>
            <a:endParaRPr lang="en-US" sz="3600" b="1"/>
          </a:p>
        </p:txBody>
      </p:sp>
      <p:pic>
        <p:nvPicPr>
          <p:cNvPr id="7" name="Content Placeholder 6" descr="download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749165" y="1906905"/>
            <a:ext cx="1895475" cy="2047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2456</Words>
  <Application>WPS Presentation</Application>
  <PresentationFormat>On-screen Show (4:3)</PresentationFormat>
  <Paragraphs>203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SimSun</vt:lpstr>
      <vt:lpstr>Wingdings</vt:lpstr>
      <vt:lpstr>Microsoft YaHei</vt:lpstr>
      <vt:lpstr>Arial Unicode MS</vt:lpstr>
      <vt:lpstr>Calibri</vt:lpstr>
      <vt:lpstr>Orange Waves</vt:lpstr>
      <vt:lpstr>Linear Searching</vt:lpstr>
      <vt:lpstr>Problem: Search</vt:lpstr>
      <vt:lpstr>Search</vt:lpstr>
      <vt:lpstr>Linear Search</vt:lpstr>
      <vt:lpstr>Search k =11</vt:lpstr>
      <vt:lpstr>PowerPoint 演示文稿</vt:lpstr>
      <vt:lpstr>Linear Search Analysis</vt:lpstr>
      <vt:lpstr>Worst Case Time for Linear Search</vt:lpstr>
      <vt:lpstr>Average Case for Linear Search</vt:lpstr>
      <vt:lpstr>Average Case Time for Linear Search</vt:lpstr>
      <vt:lpstr>Pros and Cons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Searching</dc:title>
  <dc:creator>HMC</dc:creator>
  <cp:lastModifiedBy>Grace</cp:lastModifiedBy>
  <cp:revision>26</cp:revision>
  <dcterms:created xsi:type="dcterms:W3CDTF">2006-08-16T00:00:00Z</dcterms:created>
  <dcterms:modified xsi:type="dcterms:W3CDTF">2022-12-22T09:01:24Z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1033-10.2.0.7636</vt:lpwstr>
  </property>
</Properties>
</file>